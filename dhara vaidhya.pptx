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53"/>
    <a:srgbClr val="FDE8CB"/>
    <a:srgbClr val="798372"/>
    <a:srgbClr val="6B7565"/>
    <a:srgbClr val="FCD7A6"/>
    <a:srgbClr val="666666"/>
    <a:srgbClr val="788372"/>
    <a:srgbClr val="B6B8B4"/>
    <a:srgbClr val="F09252"/>
    <a:srgbClr val="F3E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63" autoAdjust="0"/>
    <p:restoredTop sz="94660"/>
  </p:normalViewPr>
  <p:slideViewPr>
    <p:cSldViewPr snapToGrid="0">
      <p:cViewPr varScale="1">
        <p:scale>
          <a:sx n="91" d="100"/>
          <a:sy n="91" d="100"/>
        </p:scale>
        <p:origin x="80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56:24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56:29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1039 40 24140,'-829'-39'0,"620"130"0,1247-143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56:34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50 24575,'-49'-18'0,"24"14"0,-40 1 0,40 2 0,-44-6 0,27 0 0,-1 2 0,0 2 0,0 1 0,-48 6 0,67-1-1365,4 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56:37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51 24575,'9'-1'0,"0"0"0,-1-1 0,1 1 0,0-2 0,-1 1 0,1-1 0,15-8 0,-15 7 0,0-1 0,1 2 0,-1 0 0,1 0 0,0 0 0,12 0 0,13 1 0,69 4 0,-102-2 0,-1 0 0,0 0 0,0 0 0,0 1 0,0-1 0,1 0 0,-1 0 0,0 1 0,0-1 0,0 0 0,0 1 0,0-1 0,0 1 0,0 0 0,0-1 0,0 1 0,0 0 0,0-1 0,0 1 0,0 0 0,-1 0 0,1 0 0,0 0 0,-1 0 0,1 0 0,-1 0 0,2 2 0,-2-2 0,-1 0 0,1 0 0,0 0 0,0 0 0,-1 0 0,1 0 0,-1 0 0,1 0 0,-1 0 0,1 0 0,-1 0 0,0 0 0,0 0 0,1 0 0,-1-1 0,0 1 0,0 0 0,0-1 0,0 1 0,1 0 0,-1-1 0,0 1 0,0-1 0,0 1 0,-1-1 0,1 0 0,0 1 0,0-1 0,-1 0 0,-19 5 0,-37 5 0,7-2 0,5-2 0,0-2 0,0-2 0,-58-4 0,13 0 0,-11 2-1365,81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56:50.90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56:55.37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232 142 24575,'18'-1'0,"0"-1"0,0-1 0,31-9 0,0 0 0,241-60 0,-252 63 0,74-7 0,-74 11 0,77-4 0,164 8 0,-121 4 0,-120-1 0,0 2 0,0 2 0,60 18 0,-71-18 0,-25-6 0,0 1 0,-1-1 0,1 1 0,0-1 0,0 1 0,0 0 0,-1-1 0,1 1 0,0 0 0,-1 0 0,1 0 0,-1 1 0,1-1 0,-1 0 0,0 0 0,1 1 0,1 2 0,-3-3 0,0 0 0,1 0 0,-1 0 0,0 0 0,0 0 0,0 0 0,0 0 0,0 0 0,0 0 0,0 0 0,0 0 0,0 0 0,-1 0 0,1 1 0,0-1 0,-1 0 0,1 0 0,0-1 0,-1 1 0,0 0 0,1 0 0,-2 1 0,-2 3 0,0 0 0,0-1 0,-1 0 0,0 1 0,0-2 0,0 1 0,0-1 0,-11 6 0,-12 2 0,0-1 0,0-1 0,-1-1 0,0-2 0,-47 5 0,-153-4 0,58-4 0,79 1 0,-105 8 0,158-7 0,1 1 0,1 2 0,-41 14 0,47-11 0,-50 26 0,62-29 0,0-1 0,0-1 0,-1-1 0,1 0 0,-1-1 0,-39 1 0,-40 10 0,67-9 0,16-3 0,0 0 0,0 1 0,1 1 0,0 1 0,-15 7 0,73-8 0,75-5 0,234-2 0,0-26 0,-27-32 0,-108 17 0,-203 40 0,-2 1 0,-1-1 0,1 2 0,-1 0 0,1 0 0,0 1 0,16 2 0,-27-2 0,-1 0 0,1 0 0,-1 0 0,1 0 0,-1 0 0,1 0 0,-1 1 0,1-1 0,-1 0 0,0 0 0,1 1 0,-1-1 0,1 0 0,-1 1 0,0-1 0,1 0 0,-1 1 0,0-1 0,0 0 0,1 1 0,-1-1 0,0 1 0,0-1 0,1 1 0,-1-1 0,0 1 0,0-1 0,0 0 0,0 1 0,0-1 0,0 1 0,0-1 0,0 1 0,0-1 0,0 1 0,0-1 0,0 1 0,0-1 0,0 1 0,0-1 0,0 1 0,-1-1 0,1 0 0,0 1 0,0-1 0,-1 1 0,1-1 0,0 1 0,0-1 0,-1 0 0,1 1 0,-1-1 0,1 0 0,0 1 0,-1-1 0,-22 22 0,4-10 0,-1-1 0,0-1 0,0-1 0,-40 13 0,-93 15 0,17-5 0,54-5 0,2 2 0,2 5 0,0 2 0,-86 57 0,106-55 0,3 2 0,-57 54 0,104-87 0,1 1 0,-1-1 0,1 2 0,1-1 0,-1 1 0,2 0 0,-8 13 0,61-45 0,22-10 0,101-33 0,-109 46 0,202-61 0,-197 64 0,135-16 0,-202 33 0,1 0 0,0-1 0,-1 1 0,1 0 0,0 0 0,0 0 0,-1 0 0,1 0 0,0 0 0,0 0 0,-1 0 0,1 0 0,0 0 0,-1 0 0,1 0 0,0 1 0,0-1 0,-1 0 0,1 1 0,0-1 0,-1 0 0,1 1 0,-1-1 0,1 1 0,0-1 0,0 1 0,-1 0 0,-1 0 0,1 0 0,0 0 0,-1 0 0,1 0 0,0 0 0,-1-1 0,1 1 0,-1 0 0,0 0 0,1-1 0,-1 1 0,0 0 0,1-1 0,-1 1 0,0 0 0,0 0 0,-48 32 0,43-29 0,-52 28 0,-121 49 0,170-77 0,0 1 0,-1-1 0,-10 9 0,18-12 0,1 0 0,-1 0 0,1 0 0,0 0 0,0 0 0,0 1 0,0-1 0,0 0 0,0 1 0,0-1 0,0 1 0,-1 2 0,2-3 0,0-1 0,0 1 0,0 0 0,0 0 0,0 0 0,0-1 0,0 1 0,0 0 0,1 0 0,-1-1 0,0 1 0,0 0 0,1 0 0,-1-1 0,0 1 0,1 0 0,-1-1 0,1 1 0,-1 0 0,1-1 0,-1 1 0,1 0 0,-1-1 0,1 1 0,0-1 0,-1 0 0,2 2 0,5 1 0,-1 1 0,1-1 0,0 0 0,-1-1 0,2 1 0,-1-1 0,0-1 0,0 1 0,11 0 0,74 0 0,-65-2 0,-8 1 0,0-1 0,1 0 0,-1-2 0,0 0 0,0-1 0,0-1 0,-1-1 0,30-11 0,-23 5 0,-1-1 0,0-1 0,-1 0 0,-1-2 0,0-1 0,22-22 0,-18 20 0,-16 18 0,-12 16 0,-4-6 0,0 0 0,0-1 0,-1 0 0,0 0 0,0 0 0,-1-1 0,0 0 0,-15 11 0,23-19 0,0 0 0,-1 0 0,1 0 0,0 1 0,0-1 0,0 0 0,-1 0 0,1 0 0,0 0 0,0 0 0,0 1 0,-1-1 0,1 0 0,0 0 0,0 0 0,-1 0 0,1 0 0,0 0 0,0 0 0,-1 0 0,1 0 0,0 0 0,0 0 0,-1 0 0,1 0 0,0 0 0,0 0 0,-1 0 0,1 0 0,0 0 0,0-1 0,-1 1 0,1 0 0,0 0 0,-1 0 0,2-10 0,9-15 0,-10 24 0,66-127 342,-55 110-684,0 0 1,1 1 0,1 1-1,30-29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56:59.10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5:57:01.32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F3C1-F62B-4D4F-A997-F69032E21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A1188-FE71-4B87-A5B1-DEA7C7844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38D9-3DB8-49A9-B205-76E8125A5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FDBB7-B73E-483F-92EB-E86BEF09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CCD9A-F48C-43AB-88AC-CEBFA6C8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47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1CC0-C447-4CA0-9302-308C505A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467C-593A-4873-8AED-A88C8ACA4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62668-0529-40ED-9535-C9E0C4CA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72975-6883-4230-9468-9FC1A200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103C-358F-4102-9C86-CFED7A1C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99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058E-33FC-412C-A3B8-80F2C8D07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DF020-4281-4976-877A-083D6808C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1F2D3-0EFB-4C3F-9AC3-5F9D74FB3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EEE3B-70D1-4FB3-9759-33CEEEF1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AD0BB-3658-4783-B430-5E981490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36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7180-4C20-4860-871D-7F3C4029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19ED2-F6DD-4A2D-8BA0-16EB3A1DB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D2E32-88B9-4FC6-B8E5-7BB90EE12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8C45F-3638-486A-8AFC-E68399F9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734DF-BFE6-4B80-B84C-42245E2C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F2390-6248-4550-8914-96064CA2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43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50B7-6EDC-43EB-923C-360D45EE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2A164-D0F4-4A8F-BB90-1F17EB7A5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F0FC0-9B1C-4EE3-AF90-D0F5D572A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4E5C1-1A34-46E7-990B-C833DEBA5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1F25B-CE0E-48E3-AC35-C858FBEA6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A5BAE7-5F1B-43D6-AE1A-0EF226DA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DE540-FB52-4493-A7D6-F09DB3DA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86D39-E0C5-4C13-8FA7-8534F21D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39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159F-0402-4886-BEF3-AC8EE757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0F5A84-F24A-4613-A818-A24DEA47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3DF08-66C7-449D-A9D5-2E5C33B9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CF8EB-B624-4161-B694-674C870F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03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840E0-FCF2-4841-8346-3F2253A8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E8CE2-75A6-4A5F-AFD5-62D27E3B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991C8-8D06-4570-9311-05A5BCA1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0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5413-C1CB-402C-84FD-6A59C8C0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9B9E6-EEA2-406F-AEB8-8CEDC7E50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D8D91-43B1-4A38-8442-872ADB57A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A22DC-CFAF-4B15-A711-B7E17F61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AD38C-8DE6-45B2-945E-577C3890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4BF5F-EC72-4008-8517-73ABD48F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80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427B-25DF-4A76-B687-AA24B77C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2D80A-C0B4-42AF-8C90-350D718A5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0C087-1888-4341-B89B-CA8F6A053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A334F-536A-48BA-AC01-A69DE80D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BF03A-3E6F-4B24-9DC2-68646064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BA20F-CC5F-4C5E-9E53-591C3512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47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2659-D1A9-4FFD-ABC0-F895E733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15F90-4D98-441C-BCFC-8A159B3CE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59748-4337-4111-9D9B-02028ACA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9071A-5AF6-4084-ADEE-8B8E3491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54AA0-90C4-4D08-80CE-E1868E62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90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547CA-463A-4DB7-B9BD-CC5AE1359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E12B0-2EFC-4964-944E-B3F98769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57B6-5033-4593-9137-03D63A12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21636-1D83-4905-9F81-8EA0A7C9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D606-9CD4-435B-937B-035B0C54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46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B4132-0DCF-4043-9178-B77DAF41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ADBAC-E16E-4367-8E92-E24B1E4DD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883F4-4279-4BE3-904D-BD94D1F38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462F9-F445-42AB-BA7A-A840319CBB3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34609-C1C8-4457-9466-D8E09A5EE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2FAEB-F171-41A3-898C-DE04629FD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20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customXml" Target="../ink/ink5.xml"/><Relationship Id="rId17" Type="http://schemas.openxmlformats.org/officeDocument/2006/relationships/customXml" Target="../ink/ink8.xml"/><Relationship Id="rId2" Type="http://schemas.openxmlformats.org/officeDocument/2006/relationships/hyperlink" Target="dhara-vaidya.html" TargetMode="Externa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3.png"/><Relationship Id="rId1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6F6A265-B7E2-4542-8021-494CC558D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4194" y="0"/>
            <a:ext cx="13082209" cy="7358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BBBE26-F7C1-4C8D-98BD-F2E6880AF0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8219" y="1184410"/>
            <a:ext cx="7710073" cy="5140048"/>
          </a:xfrm>
          <a:prstGeom prst="rect">
            <a:avLst/>
          </a:prstGeom>
          <a:effectLst>
            <a:softEdge rad="4699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670B47-5C89-4BE7-ACEE-B950E62F1632}"/>
              </a:ext>
            </a:extLst>
          </p:cNvPr>
          <p:cNvSpPr/>
          <p:nvPr/>
        </p:nvSpPr>
        <p:spPr>
          <a:xfrm>
            <a:off x="6158705" y="401086"/>
            <a:ext cx="570680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6600" dirty="0">
                <a:solidFill>
                  <a:srgbClr val="F09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DHARA</a:t>
            </a:r>
          </a:p>
          <a:p>
            <a:r>
              <a:rPr lang="en-IN" sz="6600" dirty="0">
                <a:solidFill>
                  <a:srgbClr val="F09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VAIDYA</a:t>
            </a:r>
          </a:p>
          <a:p>
            <a:r>
              <a:rPr lang="en-IN" sz="6600" dirty="0">
                <a:solidFill>
                  <a:srgbClr val="F09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F869FA-85BA-415A-8090-2FBDDBE6DB95}"/>
              </a:ext>
            </a:extLst>
          </p:cNvPr>
          <p:cNvSpPr/>
          <p:nvPr/>
        </p:nvSpPr>
        <p:spPr>
          <a:xfrm>
            <a:off x="7061212" y="3754434"/>
            <a:ext cx="57068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hi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फसल</a:t>
            </a:r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Apna Doctor.</a:t>
            </a:r>
          </a:p>
        </p:txBody>
      </p:sp>
      <p:sp useBgFill="1"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A1D617-0EEE-4AAC-9189-286F4546446F}"/>
              </a:ext>
            </a:extLst>
          </p:cNvPr>
          <p:cNvSpPr/>
          <p:nvPr/>
        </p:nvSpPr>
        <p:spPr>
          <a:xfrm>
            <a:off x="8847165" y="6180010"/>
            <a:ext cx="2960976" cy="400110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E8A52-B0FB-4E88-B066-B599478B508D}"/>
              </a:ext>
            </a:extLst>
          </p:cNvPr>
          <p:cNvSpPr txBox="1"/>
          <p:nvPr/>
        </p:nvSpPr>
        <p:spPr>
          <a:xfrm>
            <a:off x="8789798" y="6180010"/>
            <a:ext cx="3075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 SMASHERS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15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A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79327-39CE-4F3D-86DE-287631151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1835" y="-628073"/>
            <a:ext cx="6088986" cy="7998691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FB6D3A-D9A0-460B-85C5-F8A941A380D1}"/>
              </a:ext>
            </a:extLst>
          </p:cNvPr>
          <p:cNvSpPr/>
          <p:nvPr/>
        </p:nvSpPr>
        <p:spPr>
          <a:xfrm>
            <a:off x="5632407" y="567254"/>
            <a:ext cx="65595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5861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of Turning Every Smartphone into a Smart Crop Doctor</a:t>
            </a:r>
            <a:endParaRPr lang="en-IN" sz="2800" b="1" dirty="0">
              <a:solidFill>
                <a:srgbClr val="58615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A0E053-4397-4C3B-8B83-834746ED65AB}"/>
              </a:ext>
            </a:extLst>
          </p:cNvPr>
          <p:cNvSpPr/>
          <p:nvPr/>
        </p:nvSpPr>
        <p:spPr>
          <a:xfrm>
            <a:off x="5978151" y="1794535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Crop Loss-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destroy up to 40% of crop yield worldwide.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to Every Farmer-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Pests and diseases are widespread, making most farmers vulnerable.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Financial Loss (India)-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lose 15–25% income each season due to crop failure.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Issue Late Detection-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identification leads to large-scale damage and preventable losses.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33FB780-974A-42A1-BE8C-96B81A20A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082" y="3473055"/>
            <a:ext cx="310487" cy="36908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BB594F9-F73B-4000-85AE-52DF162A20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8082" y="1823751"/>
            <a:ext cx="304800" cy="30193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1CC36DD-89A1-48CD-88D8-EC8DE3EFF1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8082" y="4315212"/>
            <a:ext cx="304800" cy="30193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E36B570-701D-4902-94E7-EF465BDF1C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04820" y="2626188"/>
            <a:ext cx="304800" cy="30193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1BBC45-B2E9-4F9D-8343-2A8ABF23BC1A}"/>
              </a:ext>
            </a:extLst>
          </p:cNvPr>
          <p:cNvSpPr/>
          <p:nvPr/>
        </p:nvSpPr>
        <p:spPr>
          <a:xfrm>
            <a:off x="5676350" y="243046"/>
            <a:ext cx="1454588" cy="158363"/>
          </a:xfrm>
          <a:prstGeom prst="roundRect">
            <a:avLst/>
          </a:prstGeom>
          <a:solidFill>
            <a:srgbClr val="79837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1F7981-0590-43F1-BAB6-93E5125CD5C1}"/>
              </a:ext>
            </a:extLst>
          </p:cNvPr>
          <p:cNvSpPr/>
          <p:nvPr/>
        </p:nvSpPr>
        <p:spPr>
          <a:xfrm>
            <a:off x="5632407" y="5229103"/>
            <a:ext cx="648103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58615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Farmers don’t lose crops because solutions don’t exist — they lose them because detection happens too late</a:t>
            </a:r>
          </a:p>
        </p:txBody>
      </p:sp>
    </p:spTree>
    <p:extLst>
      <p:ext uri="{BB962C8B-B14F-4D97-AF65-F5344CB8AC3E}">
        <p14:creationId xmlns:p14="http://schemas.microsoft.com/office/powerpoint/2010/main" val="270925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A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66D465-CAF8-4CE2-9B7C-C2D0B4DD4791}"/>
              </a:ext>
            </a:extLst>
          </p:cNvPr>
          <p:cNvSpPr/>
          <p:nvPr/>
        </p:nvSpPr>
        <p:spPr>
          <a:xfrm>
            <a:off x="251670" y="109057"/>
            <a:ext cx="3185261" cy="1008905"/>
          </a:xfrm>
          <a:prstGeom prst="roundRect">
            <a:avLst/>
          </a:prstGeom>
          <a:solidFill>
            <a:srgbClr val="79837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60E8C-19B9-493F-8C92-86315A12593D}"/>
              </a:ext>
            </a:extLst>
          </p:cNvPr>
          <p:cNvSpPr/>
          <p:nvPr/>
        </p:nvSpPr>
        <p:spPr>
          <a:xfrm>
            <a:off x="1687843" y="1321818"/>
            <a:ext cx="26182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5861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DHARA VAIDYA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EB92A7-37CC-4478-9709-3B0BFADB88B5}"/>
              </a:ext>
            </a:extLst>
          </p:cNvPr>
          <p:cNvSpPr/>
          <p:nvPr/>
        </p:nvSpPr>
        <p:spPr>
          <a:xfrm>
            <a:off x="420113" y="1966008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Disease Detection-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crop diseases quickly to prevent major losses.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Diagnosis-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accurate, Indian data-driven insights for better decisions.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Treatment Advice-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region-specific guidance in the farmer’s preferred language.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Field Monitoring-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images, drones, and rover for precise crop health analysis.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Yield, Lower Loss-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protect crops, reduce waste, and increase income.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76A230-2D49-4B2C-45A1-4C3759C57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0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B6DB51-ACCA-DB4E-89B9-5D2EDD367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9" r="5750" b="-1"/>
          <a:stretch>
            <a:fillRect/>
          </a:stretch>
        </p:blipFill>
        <p:spPr>
          <a:xfrm>
            <a:off x="2915455" y="-9134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8A7479-251A-413A-92BE-316BEBE8BDC0}"/>
              </a:ext>
            </a:extLst>
          </p:cNvPr>
          <p:cNvSpPr/>
          <p:nvPr/>
        </p:nvSpPr>
        <p:spPr>
          <a:xfrm>
            <a:off x="256670" y="2857500"/>
            <a:ext cx="3161940" cy="13674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FLOW OF SOLUTION</a:t>
            </a:r>
          </a:p>
        </p:txBody>
      </p:sp>
    </p:spTree>
    <p:extLst>
      <p:ext uri="{BB962C8B-B14F-4D97-AF65-F5344CB8AC3E}">
        <p14:creationId xmlns:p14="http://schemas.microsoft.com/office/powerpoint/2010/main" val="247972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A9FFE-5C8B-00B2-BEDD-14257C5E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41C3BE-CA5D-687D-21A0-A7B5CD75901C}"/>
              </a:ext>
            </a:extLst>
          </p:cNvPr>
          <p:cNvSpPr/>
          <p:nvPr/>
        </p:nvSpPr>
        <p:spPr>
          <a:xfrm>
            <a:off x="3958701" y="117446"/>
            <a:ext cx="4274597" cy="833466"/>
          </a:xfrm>
          <a:prstGeom prst="roundRect">
            <a:avLst/>
          </a:prstGeom>
          <a:solidFill>
            <a:srgbClr val="79837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DIFFERENT CNN ARCHITECTURES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01ABD3-C8F6-826D-D89D-265DFD061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316" y="1356412"/>
            <a:ext cx="5340107" cy="427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A51E93-B339-4929-C5A0-0AC23282D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64" y="1356412"/>
            <a:ext cx="5340107" cy="427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925774-1686-162F-5EE2-C46D9DC7BB07}"/>
              </a:ext>
            </a:extLst>
          </p:cNvPr>
          <p:cNvSpPr txBox="1"/>
          <p:nvPr/>
        </p:nvSpPr>
        <p:spPr>
          <a:xfrm>
            <a:off x="589464" y="5947794"/>
            <a:ext cx="804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#Training Dataset collected from India ,Bangladesh ,Pakistan &amp; Nepal regions</a:t>
            </a:r>
          </a:p>
          <a:p>
            <a:r>
              <a:rPr lang="en-IN" b="1" dirty="0"/>
              <a:t>#Major production crop models trained for RICE,WHEAT,SUGARCANE,POTATO.</a:t>
            </a:r>
          </a:p>
        </p:txBody>
      </p:sp>
    </p:spTree>
    <p:extLst>
      <p:ext uri="{BB962C8B-B14F-4D97-AF65-F5344CB8AC3E}">
        <p14:creationId xmlns:p14="http://schemas.microsoft.com/office/powerpoint/2010/main" val="250171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6349BE-1035-62C4-179C-008A53ED2FE6}"/>
              </a:ext>
            </a:extLst>
          </p:cNvPr>
          <p:cNvSpPr/>
          <p:nvPr/>
        </p:nvSpPr>
        <p:spPr>
          <a:xfrm>
            <a:off x="2373182" y="72468"/>
            <a:ext cx="4274597" cy="833466"/>
          </a:xfrm>
          <a:prstGeom prst="roundRect">
            <a:avLst/>
          </a:prstGeom>
          <a:solidFill>
            <a:srgbClr val="79837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ROVER PREDICTION 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36B2C0-316E-B814-5ABB-484EB6EA5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104" y="3464558"/>
            <a:ext cx="2484636" cy="3311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E4F76D-3E90-5CA5-DE7E-A12D9C111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5" y="998409"/>
            <a:ext cx="2648239" cy="22704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E52E66-FE87-36A4-2596-F7AD7B576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8409"/>
            <a:ext cx="2648240" cy="2292617"/>
          </a:xfrm>
          <a:prstGeom prst="rect">
            <a:avLst/>
          </a:prstGeom>
        </p:spPr>
      </p:pic>
      <p:sp>
        <p:nvSpPr>
          <p:cNvPr id="13" name="Arrow: Bent 12">
            <a:extLst>
              <a:ext uri="{FF2B5EF4-FFF2-40B4-BE49-F238E27FC236}">
                <a16:creationId xmlns:a16="http://schemas.microsoft.com/office/drawing/2014/main" id="{B88B38D7-9D96-B4BF-F008-7FC2A6B034B7}"/>
              </a:ext>
            </a:extLst>
          </p:cNvPr>
          <p:cNvSpPr/>
          <p:nvPr/>
        </p:nvSpPr>
        <p:spPr>
          <a:xfrm rot="16200000">
            <a:off x="1100681" y="3772978"/>
            <a:ext cx="1533507" cy="1856419"/>
          </a:xfrm>
          <a:prstGeom prst="ben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2BD732C3-10CD-1F65-4499-D3A70BA7AE29}"/>
              </a:ext>
            </a:extLst>
          </p:cNvPr>
          <p:cNvSpPr/>
          <p:nvPr/>
        </p:nvSpPr>
        <p:spPr>
          <a:xfrm rot="16200000" flipV="1">
            <a:off x="5932508" y="3710999"/>
            <a:ext cx="1533507" cy="1980376"/>
          </a:xfrm>
          <a:prstGeom prst="ben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1069F-FBEB-FC47-87B2-2F6C8A571391}"/>
              </a:ext>
            </a:extLst>
          </p:cNvPr>
          <p:cNvSpPr txBox="1"/>
          <p:nvPr/>
        </p:nvSpPr>
        <p:spPr>
          <a:xfrm>
            <a:off x="2663721" y="1425753"/>
            <a:ext cx="3335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Can develop into 2 different diseases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CCDF1F-4A82-58BC-BB62-F51B039F762B}"/>
              </a:ext>
            </a:extLst>
          </p:cNvPr>
          <p:cNvSpPr txBox="1"/>
          <p:nvPr/>
        </p:nvSpPr>
        <p:spPr>
          <a:xfrm>
            <a:off x="2663721" y="2269829"/>
            <a:ext cx="35642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50" dirty="0"/>
              <a:t>Rover take live environmental data from farm like temperature ,humidity, mineral values and then rules out the possible diseases that can occur.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237C6-D1DC-7036-E9A9-8107A4C9CC1D}"/>
              </a:ext>
            </a:extLst>
          </p:cNvPr>
          <p:cNvSpPr txBox="1"/>
          <p:nvPr/>
        </p:nvSpPr>
        <p:spPr>
          <a:xfrm>
            <a:off x="652150" y="629077"/>
            <a:ext cx="187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BROWN SPOT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EA3D99-6F43-F241-6D3E-88C9106D1ABD}"/>
              </a:ext>
            </a:extLst>
          </p:cNvPr>
          <p:cNvSpPr txBox="1"/>
          <p:nvPr/>
        </p:nvSpPr>
        <p:spPr>
          <a:xfrm>
            <a:off x="7015993" y="582840"/>
            <a:ext cx="241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BLIGHT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E5B11D-CAA6-BBC0-1924-922F39D3F23A}"/>
              </a:ext>
            </a:extLst>
          </p:cNvPr>
          <p:cNvSpPr txBox="1"/>
          <p:nvPr/>
        </p:nvSpPr>
        <p:spPr>
          <a:xfrm>
            <a:off x="5613690" y="5698412"/>
            <a:ext cx="3899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Disease=?</a:t>
            </a:r>
          </a:p>
          <a:p>
            <a:r>
              <a:rPr lang="en-IN" sz="2000" b="1" dirty="0"/>
              <a:t>Temperature=33    Nitrogen = 243</a:t>
            </a:r>
            <a:br>
              <a:rPr lang="en-IN" sz="2000" b="1" dirty="0"/>
            </a:br>
            <a:r>
              <a:rPr lang="en-IN" sz="2000" b="1" dirty="0"/>
              <a:t>Humidity =120       UV Index = 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44CF3D-81A8-D9CA-74B9-7BCBAEE62541}"/>
              </a:ext>
            </a:extLst>
          </p:cNvPr>
          <p:cNvSpPr/>
          <p:nvPr/>
        </p:nvSpPr>
        <p:spPr>
          <a:xfrm>
            <a:off x="8925019" y="447298"/>
            <a:ext cx="3188238" cy="5353924"/>
          </a:xfrm>
          <a:prstGeom prst="rect">
            <a:avLst/>
          </a:prstGeom>
          <a:solidFill>
            <a:srgbClr val="FDE8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AF46B-201F-3A77-B84F-3081494A78E7}"/>
              </a:ext>
            </a:extLst>
          </p:cNvPr>
          <p:cNvSpPr txBox="1"/>
          <p:nvPr/>
        </p:nvSpPr>
        <p:spPr>
          <a:xfrm>
            <a:off x="8925018" y="582840"/>
            <a:ext cx="33690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Major competitor- </a:t>
            </a:r>
          </a:p>
          <a:p>
            <a:r>
              <a:rPr lang="en-IN" sz="2200" b="1" dirty="0" err="1"/>
              <a:t>Plantix</a:t>
            </a:r>
            <a:endParaRPr lang="en-IN"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F76E0-6AAF-D375-6286-0BEB70062959}"/>
              </a:ext>
            </a:extLst>
          </p:cNvPr>
          <p:cNvSpPr txBox="1"/>
          <p:nvPr/>
        </p:nvSpPr>
        <p:spPr>
          <a:xfrm>
            <a:off x="8925018" y="1553099"/>
            <a:ext cx="3266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Plantix</a:t>
            </a:r>
            <a:r>
              <a:rPr lang="en-IN" dirty="0"/>
              <a:t> only provides the </a:t>
            </a:r>
            <a:r>
              <a:rPr lang="en-IN" b="1" dirty="0"/>
              <a:t>classification</a:t>
            </a:r>
            <a:r>
              <a:rPr lang="en-IN" dirty="0"/>
              <a:t> of diseased crops taking only a single input without doing </a:t>
            </a:r>
            <a:r>
              <a:rPr lang="en-IN" b="1" dirty="0"/>
              <a:t>image quality scoring.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589D5-311B-536D-8CEC-C84755B6B02A}"/>
              </a:ext>
            </a:extLst>
          </p:cNvPr>
          <p:cNvSpPr txBox="1"/>
          <p:nvPr/>
        </p:nvSpPr>
        <p:spPr>
          <a:xfrm>
            <a:off x="8997196" y="3313557"/>
            <a:ext cx="3116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recommend farmers to input </a:t>
            </a:r>
            <a:r>
              <a:rPr lang="en-IN" b="1" dirty="0"/>
              <a:t>multiple images  (&gt;5) </a:t>
            </a:r>
          </a:p>
          <a:p>
            <a:r>
              <a:rPr lang="en-IN" dirty="0"/>
              <a:t>We do </a:t>
            </a:r>
            <a:r>
              <a:rPr lang="en-IN" b="1" dirty="0"/>
              <a:t>image quality scoring </a:t>
            </a:r>
            <a:r>
              <a:rPr lang="en-IN" dirty="0"/>
              <a:t>and then add its weightage to final classification.</a:t>
            </a:r>
            <a:br>
              <a:rPr lang="en-IN" dirty="0"/>
            </a:br>
            <a:r>
              <a:rPr lang="en-IN" dirty="0"/>
              <a:t>We also do </a:t>
            </a:r>
            <a:r>
              <a:rPr lang="en-IN" b="1" dirty="0"/>
              <a:t>prediction</a:t>
            </a:r>
            <a:r>
              <a:rPr lang="en-IN" dirty="0"/>
              <a:t> through our rover using environmental data collection and processing.</a:t>
            </a:r>
          </a:p>
        </p:txBody>
      </p:sp>
    </p:spTree>
    <p:extLst>
      <p:ext uri="{BB962C8B-B14F-4D97-AF65-F5344CB8AC3E}">
        <p14:creationId xmlns:p14="http://schemas.microsoft.com/office/powerpoint/2010/main" val="249135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06220-8AEA-1906-5025-CE98F5E8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hlinkClick r:id="rId2" action="ppaction://hlinkfile"/>
            <a:extLst>
              <a:ext uri="{FF2B5EF4-FFF2-40B4-BE49-F238E27FC236}">
                <a16:creationId xmlns:a16="http://schemas.microsoft.com/office/drawing/2014/main" id="{89B50E93-DC4E-C74E-D106-5F59981E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60" r="11138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F3B998-43EA-AAF5-4343-CDFBC894AB91}"/>
              </a:ext>
            </a:extLst>
          </p:cNvPr>
          <p:cNvSpPr/>
          <p:nvPr/>
        </p:nvSpPr>
        <p:spPr>
          <a:xfrm>
            <a:off x="0" y="623455"/>
            <a:ext cx="3338584" cy="12011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BUSINESS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C7D93-D44C-13DE-BE51-61639E69E270}"/>
              </a:ext>
            </a:extLst>
          </p:cNvPr>
          <p:cNvSpPr txBox="1"/>
          <p:nvPr/>
        </p:nvSpPr>
        <p:spPr>
          <a:xfrm>
            <a:off x="100668" y="2365695"/>
            <a:ext cx="40770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badi" panose="020B0604020104020204" pitchFamily="34" charset="0"/>
              </a:rPr>
              <a:t>#Dhara Vaidya</a:t>
            </a:r>
          </a:p>
          <a:p>
            <a:r>
              <a:rPr lang="en-IN" b="1" dirty="0">
                <a:latin typeface="Abadi" panose="020B0604020104020204" pitchFamily="34" charset="0"/>
              </a:rPr>
              <a:t>Drone Survey Cost =₹299/Acre</a:t>
            </a:r>
            <a:br>
              <a:rPr lang="en-IN" b="1" dirty="0">
                <a:latin typeface="Abadi" panose="020B0604020104020204" pitchFamily="34" charset="0"/>
              </a:rPr>
            </a:br>
            <a:r>
              <a:rPr lang="en-IN" b="1" dirty="0">
                <a:latin typeface="Abadi" panose="020B0604020104020204" pitchFamily="34" charset="0"/>
              </a:rPr>
              <a:t>Rover Price = ₹10,000</a:t>
            </a:r>
            <a:br>
              <a:rPr lang="en-IN" b="1" dirty="0">
                <a:latin typeface="Abadi" panose="020B0604020104020204" pitchFamily="34" charset="0"/>
              </a:rPr>
            </a:br>
            <a:endParaRPr lang="en-IN" b="1" dirty="0">
              <a:latin typeface="Abadi" panose="020B0604020104020204" pitchFamily="34" charset="0"/>
            </a:endParaRPr>
          </a:p>
          <a:p>
            <a:endParaRPr lang="en-IN" b="1" dirty="0">
              <a:latin typeface="Abadi" panose="020B0604020104020204" pitchFamily="34" charset="0"/>
            </a:endParaRPr>
          </a:p>
          <a:p>
            <a:r>
              <a:rPr lang="en-IN" b="1" dirty="0">
                <a:latin typeface="Abadi" panose="020B0604020104020204" pitchFamily="34" charset="0"/>
              </a:rPr>
              <a:t>#Will partner with multiple government </a:t>
            </a:r>
            <a:r>
              <a:rPr lang="en-IN" b="1" dirty="0" err="1">
                <a:latin typeface="Abadi" panose="020B0604020104020204" pitchFamily="34" charset="0"/>
              </a:rPr>
              <a:t>Kisaan</a:t>
            </a:r>
            <a:r>
              <a:rPr lang="en-IN" b="1" dirty="0">
                <a:latin typeface="Abadi" panose="020B0604020104020204" pitchFamily="34" charset="0"/>
              </a:rPr>
              <a:t> Yojna schemes and promote our products through local panchayat in villages.</a:t>
            </a:r>
            <a:br>
              <a:rPr lang="en-IN" b="1" dirty="0">
                <a:latin typeface="Abadi" panose="020B0604020104020204" pitchFamily="34" charset="0"/>
              </a:rPr>
            </a:br>
            <a:endParaRPr lang="en-IN" b="1" dirty="0">
              <a:latin typeface="Abadi" panose="020B0604020104020204" pitchFamily="34" charset="0"/>
            </a:endParaRPr>
          </a:p>
          <a:p>
            <a:br>
              <a:rPr lang="en-IN" b="1" dirty="0">
                <a:latin typeface="Abadi" panose="020B0604020104020204" pitchFamily="34" charset="0"/>
              </a:rPr>
            </a:br>
            <a:r>
              <a:rPr lang="en-IN" b="1" dirty="0">
                <a:latin typeface="Abadi" panose="020B0604020104020204" pitchFamily="34" charset="0"/>
              </a:rPr>
              <a:t>#Will be providing affiliate links to farm products manufacturers like pesticides ,herbicides etc.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1B87014-61AB-ABCE-6B82-A65A39ECC73A}"/>
                  </a:ext>
                </a:extLst>
              </p14:cNvPr>
              <p14:cNvContentPartPr/>
              <p14:nvPr/>
            </p14:nvContentPartPr>
            <p14:xfrm>
              <a:off x="13120250" y="335533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1B87014-61AB-ABCE-6B82-A65A39ECC7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14130" y="334921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DA78A4-2A19-2073-9CA0-A3F489F0290A}"/>
                  </a:ext>
                </a:extLst>
              </p14:cNvPr>
              <p14:cNvContentPartPr/>
              <p14:nvPr/>
            </p14:nvContentPartPr>
            <p14:xfrm rot="78602">
              <a:off x="7426950" y="461201"/>
              <a:ext cx="374200" cy="33302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DA78A4-2A19-2073-9CA0-A3F489F029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78602">
                <a:off x="7420833" y="455047"/>
                <a:ext cx="386433" cy="45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929B4C1-B40D-2F0E-6E34-B48233BB2BCC}"/>
                  </a:ext>
                </a:extLst>
              </p14:cNvPr>
              <p14:cNvContentPartPr/>
              <p14:nvPr/>
            </p14:nvContentPartPr>
            <p14:xfrm>
              <a:off x="7490210" y="451932"/>
              <a:ext cx="194400" cy="18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929B4C1-B40D-2F0E-6E34-B48233BB2B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84090" y="445812"/>
                <a:ext cx="2066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A884B0-58DA-6BBC-189E-F5A0DE895DA2}"/>
                  </a:ext>
                </a:extLst>
              </p14:cNvPr>
              <p14:cNvContentPartPr/>
              <p14:nvPr/>
            </p14:nvContentPartPr>
            <p14:xfrm>
              <a:off x="7441250" y="443292"/>
              <a:ext cx="219600" cy="28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A884B0-58DA-6BBC-189E-F5A0DE895D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35130" y="437172"/>
                <a:ext cx="2318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ADD0C36-9DA7-D2BC-C8C4-963D32D253C8}"/>
                  </a:ext>
                </a:extLst>
              </p14:cNvPr>
              <p14:cNvContentPartPr/>
              <p14:nvPr/>
            </p14:nvContentPartPr>
            <p14:xfrm>
              <a:off x="13002890" y="216445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ADD0C36-9DA7-D2BC-C8C4-963D32D253C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939890" y="210145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6C97B1B-07D9-FB4E-C978-FE9182F1A369}"/>
                  </a:ext>
                </a:extLst>
              </p14:cNvPr>
              <p14:cNvContentPartPr/>
              <p14:nvPr/>
            </p14:nvContentPartPr>
            <p14:xfrm>
              <a:off x="7273850" y="510972"/>
              <a:ext cx="606960" cy="325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6C97B1B-07D9-FB4E-C978-FE9182F1A36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11210" y="447972"/>
                <a:ext cx="732600" cy="45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BD95200-846C-AD30-C008-E82AA87BE6CE}"/>
              </a:ext>
            </a:extLst>
          </p:cNvPr>
          <p:cNvGrpSpPr/>
          <p:nvPr/>
        </p:nvGrpSpPr>
        <p:grpSpPr>
          <a:xfrm>
            <a:off x="12793010" y="2416092"/>
            <a:ext cx="360" cy="360"/>
            <a:chOff x="12793010" y="2416092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3F8F48-15CD-15AE-7C2F-0C28096C0D5D}"/>
                    </a:ext>
                  </a:extLst>
                </p14:cNvPr>
                <p14:cNvContentPartPr/>
                <p14:nvPr/>
              </p14:nvContentPartPr>
              <p14:xfrm>
                <a:off x="12793010" y="2416092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3F8F48-15CD-15AE-7C2F-0C28096C0D5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730370" y="235309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52BD36-002C-9745-8677-1A139FAA8C30}"/>
                    </a:ext>
                  </a:extLst>
                </p14:cNvPr>
                <p14:cNvContentPartPr/>
                <p14:nvPr/>
              </p14:nvContentPartPr>
              <p14:xfrm>
                <a:off x="12793010" y="2416092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52BD36-002C-9745-8677-1A139FAA8C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730370" y="235309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143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384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Abadi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paridhichaurasia05@gmail.com</dc:creator>
  <cp:lastModifiedBy>Harshvardhan Bajpai</cp:lastModifiedBy>
  <cp:revision>45</cp:revision>
  <dcterms:created xsi:type="dcterms:W3CDTF">2026-02-18T07:30:23Z</dcterms:created>
  <dcterms:modified xsi:type="dcterms:W3CDTF">2026-03-19T07:51:28Z</dcterms:modified>
</cp:coreProperties>
</file>